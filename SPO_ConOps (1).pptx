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7315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Operations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 (SPO)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2004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[Month Year]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– FOR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79576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" y="1143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1399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background, and strategic alignment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38528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" y="1901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Goals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2157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end-state and measurable objectives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974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" y="2660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2916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workloads, user groups, and exclusions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319272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56432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" y="3675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site, and hub structure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78224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215384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" y="4178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Services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" y="4434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SPO capabilities to be enabled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179576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179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75504" y="1143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Roles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75504" y="1399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responsibilities, and decision rights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1801368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938528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1901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75504" y="2157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DLP, retention, and access controls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560320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69748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75504" y="2660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Training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75504" y="2916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management, training plan, and KPIs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319272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456432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75504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75504" y="3675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timeline and milestones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078224"/>
            <a:ext cx="4160520" cy="0"/>
          </a:xfrm>
          <a:prstGeom prst="line">
            <a:avLst/>
          </a:prstGeom>
          <a:noFill/>
          <a:ln w="6350">
            <a:solidFill>
              <a:srgbClr val="D0DD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4215384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75504" y="4178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75504" y="4434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and owners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480560" y="1097280"/>
            <a:ext cx="0" cy="3840480"/>
          </a:xfrm>
          <a:prstGeom prst="line">
            <a:avLst/>
          </a:prstGeom>
          <a:noFill/>
          <a:ln w="12700">
            <a:solidFill>
              <a:srgbClr val="C5D5D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A8D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 of Operations (ConOps) defines how [Organization Name] will deploy, govern, and operate Microsoft SharePoint Online (SPO) as its primary platform for document management, team collaboration, and intranet services.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697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04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688336"/>
            <a:ext cx="2514600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file shares and on-premises SharePoint reaching end of support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licenses already procured org-wide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mandate to modernize collaboration &amp; reduce IT overhead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2286000"/>
            <a:ext cx="2697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2286000"/>
            <a:ext cx="2697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2304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Drivers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2688336"/>
            <a:ext cx="2514600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anywhere, anytime access to content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storage costs and hardware footprint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search, discoverability, and version control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hybrid/remote workforce productivity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286000"/>
            <a:ext cx="2697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286000"/>
            <a:ext cx="2697480" cy="347472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2304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81344" y="2688336"/>
            <a:ext cx="2514600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Digital Transformation Strategy FY25–27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Zero Trust and cloud-first security posture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shadow IT through sanctioned collaboration tools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Goals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64592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unified, governed digital workplace where all employees can securely create, find, and collaborate on content — from any device, at any time."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242316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788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authoritative platform for documents, replacing legacy shares and unsanctioned tools.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23317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242316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75888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Governance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4408" y="2788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teams to create and manage sites within guardrails, reducing IT tickets.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23317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99048" y="242316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10528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Findability &amp; Search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9048" y="2788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locate the right content in &lt;30 seconds through metadata, search, and navigation.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1188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" y="37033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content subject to retention, DLP, and conditional access policies.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54680" y="361188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64408" y="37033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75888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≥ 80%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64408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80% of targeted users actively using SPO within 6 months of rollout.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361188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99048" y="37033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9048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10528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99048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 cadence for governance, feature updates, and user feedback.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347472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6128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45336"/>
            <a:ext cx="384048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M365-licensed employees and contractors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libraries replacing legacy file shares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sites for project &amp; departmental collaboration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sites for intranet &amp; announcements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for Business (personal storage)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Hub Sites and navigation structure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flows connected to SPO lists/libraries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sharing (governed, with guest access controls)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143000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16128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Out of Scope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7448" y="1545336"/>
            <a:ext cx="384048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(governed separately – see Teams ConOps)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on-premises migration (addressed in Migration Plan)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SharePoint add-ins not approved by 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/ Outlook configuration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/ Power BI (separate CONOPs)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Engage / Yammer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external websites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818888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18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GROUPS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20240" y="4818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FTE  •  Part-time staff  •  Approved contractors  •  External guests (limited)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749040"/>
          </a:xfrm>
          <a:prstGeom prst="rect">
            <a:avLst/>
          </a:prstGeom>
          <a:solidFill>
            <a:srgbClr val="EBF5FB"/>
          </a:solidFill>
          <a:ln w="19050">
            <a:solidFill>
              <a:srgbClr val="A9C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TENANT  —  [org].sharepoint.com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8288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 Hub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288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Hub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18288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Hub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463040"/>
            <a:ext cx="1828800" cy="4572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Hub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1920240"/>
            <a:ext cx="0" cy="27432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920240"/>
            <a:ext cx="0" cy="27432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920240"/>
            <a:ext cx="0" cy="27432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920240"/>
            <a:ext cx="0" cy="27432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2128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280720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07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2128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Site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06040" y="280720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2807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Site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06040" y="340156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Site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2128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Site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80720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807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Site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40156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12280" y="22128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Ctr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2280" y="280720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2807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12280" y="340156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640080"/>
            <a:ext cx="228600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621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Site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0" y="640080"/>
            <a:ext cx="22860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A9CC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03120" y="621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Site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Services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check-in/out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Co-authoring with Office apps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tagging &amp; content types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IRM/sensitivity labels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97280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2696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lists replacing spreadsheets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forms integration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column formatting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097280"/>
            <a:ext cx="2697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Discovery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35624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Search integration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refiners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results / bookmarks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 &amp; expertise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90672"/>
            <a:ext cx="2697480" cy="347472"/>
          </a:xfrm>
          <a:prstGeom prst="rect">
            <a:avLst/>
          </a:prstGeom>
          <a:solidFill>
            <a:srgbClr val="1A6E9A"/>
          </a:solidFill>
          <a:ln w="12700">
            <a:solidFill>
              <a:srgbClr val="1A6E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Sites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 news and announcements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Brand-compliant templates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targeting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publishing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3090672"/>
            <a:ext cx="2697480" cy="347472"/>
          </a:xfrm>
          <a:prstGeom prst="rect">
            <a:avLst/>
          </a:prstGeom>
          <a:solidFill>
            <a:srgbClr val="1A5076"/>
          </a:solidFill>
          <a:ln w="12700">
            <a:solidFill>
              <a:srgbClr val="1A50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Permissions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82696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enforcement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guest access (governed)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link expiration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 inheritance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25896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3090672"/>
            <a:ext cx="2697480" cy="34747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Retention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35624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labels &amp; policies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policy enforcement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hold support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Roles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Governance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6974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– Strategic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007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IT Steering Committee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overall SPO policies &amp; standards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hub site creation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license &amp; cost management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3716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371600"/>
            <a:ext cx="269748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– Operational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7007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SharePoint Admins / IA Team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64408" y="2029968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tenant configuration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governance policies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site lifecycle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content types &amp; taxonomy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5896" y="13716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371600"/>
            <a:ext cx="26974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– Tactical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17336" y="17007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Site Owners / Power Users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17336" y="2029968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site content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permissions within site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compliance at site level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adoption in business units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767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 (RACI Summary)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59936"/>
          <a:ext cx="85039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00200"/>
                <a:gridCol w="1600200"/>
                <a:gridCol w="16002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Steering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Owner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Policy Approval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Site Creation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Site Provisioning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Conditional Access policies for all SPO access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enforced for all users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permissions model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access reviews (quarterly)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97280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Sharing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2696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sharing enabled per site, governed centrally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access requires IT approval workflow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links set to expire (default: 30 days)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labels restrict sharing on classified content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10972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097280"/>
            <a:ext cx="2697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1115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35624" y="1499616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DLP policies applied tenant-wide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PCI, and classified data automatically flagged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education tips on policy violations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alerts routed to Security Operations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90672"/>
            <a:ext cx="2697480" cy="347472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Records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retention labels applied by content type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 process integrated with Compliance Center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declared and locked in Records Hub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review workflow for expired content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3090672"/>
            <a:ext cx="2697480" cy="347472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Monitoring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82696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audit log enabled and retained 1 year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and permission change alerts configured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compliance dashboard reviewed by ISSO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via Microsoft Defender for Cloud Apps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25896" y="309067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3090672"/>
            <a:ext cx="2697480" cy="347472"/>
          </a:xfrm>
          <a:prstGeom prst="rect">
            <a:avLst/>
          </a:prstGeom>
          <a:solidFill>
            <a:srgbClr val="3D6B8C"/>
          </a:solidFill>
          <a:ln w="12700">
            <a:solidFill>
              <a:srgbClr val="3D6B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35624" y="3493008"/>
            <a:ext cx="2514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Public / Internal / Confidential / Restricted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inherited by items within labeled libraries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applied automatically on Confidential/Restricted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aligned to org-wide information classification policy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Training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148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155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393192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sponsorship communicated via all-hands &amp; email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Champions recruited (1 per business unit)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group of 50 users before full rollout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monthly pulse surveys in Year 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runbook and FAQ published on Intranet Hub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1148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1155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499616"/>
            <a:ext cx="393192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e-learning module (60 min) for all staff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workshops for Site Owners &amp; Power Users (half-day)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cards and how-to video library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channel for ongoing Q&amp;A and tips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refresher training + new feature bulletins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4005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Adoption KPIs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297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 by Month 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4297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46888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share traffic reduction by Month 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4297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1772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tickets after Month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4297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4.0/5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6656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 score target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– Phased Delivery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109728"/>
          </a:xfrm>
          <a:prstGeom prst="rect">
            <a:avLst/>
          </a:prstGeom>
          <a:solidFill>
            <a:srgbClr val="C5D5DF"/>
          </a:solidFill>
          <a:ln w="12700">
            <a:solidFill>
              <a:srgbClr val="C5D5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298448"/>
            <a:ext cx="329184" cy="329184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3736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37360"/>
            <a:ext cx="196596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 |  Months 1–2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1783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governance policies configured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site architecture built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user group onboarded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materials developed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129844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73736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737360"/>
            <a:ext cx="196596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42032" y="201168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 |  Months 3–5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2359152"/>
            <a:ext cx="1783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file share content migrated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team sites provisioned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content types applied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&amp; retention labels deployed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04104" y="129844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1144" y="173736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1144" y="1737360"/>
            <a:ext cx="196596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72584" y="201168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 |  Months 6–8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72584" y="2359152"/>
            <a:ext cx="1783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user rollout &amp; training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sites launched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workflows activated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support model activated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34656" y="1298448"/>
            <a:ext cx="329184" cy="329184"/>
          </a:xfrm>
          <a:prstGeom prst="ellipse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11696" y="173736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11696" y="1737360"/>
            <a:ext cx="1965960" cy="566928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03136" y="201168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 |  Months 9–12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03136" y="2359152"/>
            <a:ext cx="1783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analytics reviewed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policy tuning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(Viva, Copilot) scoped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roadmap planned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25296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ConOps Review &amp; Approval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53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IT Steering Committee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1600200"/>
            <a:ext cx="0" cy="201168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47088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1810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Policy Documentation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075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SPO Admin / IA Team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0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2221992"/>
            <a:ext cx="0" cy="201168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688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2432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Configuration Sprint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697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SPO Admin Team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8080" y="2478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" y="2843784"/>
            <a:ext cx="0" cy="201168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9067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30540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Group Selection &amp; Onboarding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3192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Dept. Champions + 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0" y="3099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6–8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" y="3465576"/>
            <a:ext cx="0" cy="201168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Materials Completed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9410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L&amp;D + SPO Admin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98080" y="3721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" y="4087368"/>
            <a:ext cx="0" cy="201168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334256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012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Go/No-Go Decision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" y="4562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IT Steering Committee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9808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|  Contact: [SharePoint Admin Team]  |  [email@org.gov]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7315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92608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0040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1821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Requests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47872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5295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 Requests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95344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877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Outage Response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42816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2245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Lifecycle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90288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5720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Guest Access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Requesting Access to a SharePoint Site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via ServiceNow  •  Single approver: Site Owner / Business Unit Manager  •  Target SLA: 2 business days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201168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6276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8105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Day 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01168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ServiceNow portal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'SPO Access Request' form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site URL or site name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permission level needed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 / Contribute / Member)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business justification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68296" y="2258568"/>
            <a:ext cx="914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296" y="2487168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96312" y="1298448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298448"/>
            <a:ext cx="20116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752" y="137160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53512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 to Approver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53512" y="16276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87752" y="18105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Automatic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87752" y="201168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auto-assigned to Site Owner / BU Manager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sent to approver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marked 'Pending Approval'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receives confirmation email with ticket #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914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2487168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72584" y="1298448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72584" y="1298448"/>
            <a:ext cx="201168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64024" y="137160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9784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Deny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9784" y="16276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Owner / BU Mgr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64024" y="18105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Within 2 days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64024" y="201168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request in ServiceNow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ticket routes to SPO Admin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→ ticket closed with reason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if site owner unavailable (&gt;2 days)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20840" y="2258568"/>
            <a:ext cx="914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2487168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48856" y="1298448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48856" y="1298448"/>
            <a:ext cx="2011680" cy="658368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0296" y="137160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0296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06056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06056" y="16276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Admin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0296" y="18105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Within 1 day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40296" y="201168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approved ticket notification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at requested permission level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correct SharePoint group used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ticket — user notified via email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83717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Denial or no response within 3 business days: User may escalate by re-opening the ServiceNow ticket and tagging the SPO Admin group.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Requesting a New SharePoint Site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via ServiceNow  •  Single approver: Site Owner / Business Unit Manager  •  Target SLA: 5 business days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201168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6276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8105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Day 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011680"/>
            <a:ext cx="18745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ServiceNow portal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'SPO New Site Request' form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Provide: site name, purpose, intended users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site type (Team / Comms / Hub-associated)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a Site Owner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governance policy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68296" y="2258568"/>
            <a:ext cx="914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296" y="2487168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96312" y="1298448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298448"/>
            <a:ext cx="20116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752" y="137160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53512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Manager Review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53512" y="16276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Manager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87752" y="18105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Within 2 days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87752" y="2011680"/>
            <a:ext cx="18745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from ServiceNow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business need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nominated Site Owner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deny with comments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44568" y="2258568"/>
            <a:ext cx="914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2487168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72584" y="1298448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72584" y="1298448"/>
            <a:ext cx="201168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64024" y="137160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9784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Admin 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9784" y="16276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Admin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64024" y="18105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Within 1 day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64024" y="2011680"/>
            <a:ext cx="18745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duplicate sites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naming convention compliance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correct hub site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site template to apply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20840" y="2258568"/>
            <a:ext cx="914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2487168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48856" y="1298448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48856" y="1298448"/>
            <a:ext cx="2011680" cy="658368"/>
          </a:xfrm>
          <a:prstGeom prst="rect">
            <a:avLst/>
          </a:prstGeom>
          <a:solidFill>
            <a:srgbClr val="1A5E8A"/>
          </a:solidFill>
          <a:ln w="12700">
            <a:solidFill>
              <a:srgbClr val="1A5E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0296" y="137160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0296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06056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06056" y="16276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Admin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0296" y="18105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Within 2 days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40296" y="2011680"/>
            <a:ext cx="18745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site from approved template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metadata &amp; content types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initial permissions (Owner + Members)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welcome email to Site Owner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ticket — record site URL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873752"/>
            <a:ext cx="8503920" cy="201168"/>
          </a:xfrm>
          <a:prstGeom prst="rect">
            <a:avLst/>
          </a:prstGeom>
          <a:solidFill>
            <a:srgbClr val="EAF4FB"/>
          </a:solidFill>
          <a:ln w="12700">
            <a:solidFill>
              <a:srgbClr val="A9D0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88289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Site Owner must complete the SPO Site Owner training module within 5 business days of site creation. Non-completion may result in access suspension.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SPO Outage &amp; Incident Response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1 – Full Outage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completely inaccessible org-wide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72968" y="1024128"/>
            <a:ext cx="269748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0424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 – Partial Outage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64408" y="12435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features or sites unavailable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25896" y="1024128"/>
            <a:ext cx="269748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17336" y="10424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 – Degraded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7336" y="12435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performance, intermittent errors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1600200"/>
            <a:ext cx="16002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600200"/>
            <a:ext cx="16002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" y="169164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" y="166420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Report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" y="2002536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SPO Admin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1752" y="2221992"/>
            <a:ext cx="149047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reports issue via ServiceNow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SPO Admin detects via M365 health 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Microsoft Service Health at admin.microsoft.com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6232" y="2514600"/>
            <a:ext cx="54864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69748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65960" y="1600200"/>
            <a:ext cx="16002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965960" y="1600200"/>
            <a:ext cx="16002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39112" y="169164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39112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50008" y="166420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Confirm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39112" y="2002536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Admin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039112" y="2221992"/>
            <a:ext cx="149047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Admin confirms scope (1 user vs org-wide)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M365 Service Health for active advisories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if Microsoft or internal issue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93592" y="2514600"/>
            <a:ext cx="54864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269748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703320" y="1600200"/>
            <a:ext cx="16002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03320" y="1600200"/>
            <a:ext cx="16002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76472" y="169164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87368" y="166420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76472" y="2002536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Admin / IT Mgr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76472" y="2221992"/>
            <a:ext cx="149047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IT Manager within 15 min (SEV 1)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org-wide advisory if SEV 1 or 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status update to Intranet or Teams channel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30952" y="2514600"/>
            <a:ext cx="54864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269748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440680" y="1600200"/>
            <a:ext cx="16002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40680" y="1600200"/>
            <a:ext cx="16002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13832" y="169164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24728" y="166420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or Escalate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13832" y="2002536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Admin / Microsoft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13832" y="2221992"/>
            <a:ext cx="149047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fix → apply and test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issue → log support ticket, monitor SHD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timeline in ServiceNow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68312" y="2514600"/>
            <a:ext cx="54864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269748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178040" y="1600200"/>
            <a:ext cx="16002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178040" y="1600200"/>
            <a:ext cx="16002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51192" y="169164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51192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62088" y="166420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251192" y="2002536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D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Admin / IT Mgr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251192" y="2221992"/>
            <a:ext cx="149047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ServiceNow ticket with resolution notes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1/2: complete PIR within 5 business days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runbook if new pattern identified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28600" y="4828032"/>
            <a:ext cx="8686800" cy="201168"/>
          </a:xfrm>
          <a:prstGeom prst="rect">
            <a:avLst/>
          </a:prstGeom>
          <a:solidFill>
            <a:srgbClr val="EAF4FB"/>
          </a:solidFill>
          <a:ln w="12700">
            <a:solidFill>
              <a:srgbClr val="A9D0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83717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Key Links:  M365 Service Health → admin.microsoft.com/adminportal/home#/servicehealth   |   ServiceNow SPO Incident Template   |   SPO Runbook (Intranet Hub)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Site Lifecycle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are reviewed on a regular cadence. Inactive sites are flagged, reviewed, and either renewed or decommissioned.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2194560"/>
            <a:ext cx="8503920" cy="91440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84832"/>
            <a:ext cx="310896" cy="310896"/>
          </a:xfrm>
          <a:prstGeom prst="ellipse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450592"/>
            <a:ext cx="16276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50592"/>
            <a:ext cx="1627632" cy="347472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46888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2852928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 use. Activity detected within 180 days. No action required.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33472" y="2084832"/>
            <a:ext cx="310896" cy="31089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39112" y="2450592"/>
            <a:ext cx="16276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39112" y="2450592"/>
            <a:ext cx="1627632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12264" y="246888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Alert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12264" y="2852928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 for 180+ days. SPO Admin sends automated review email to Site Owner.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52544" y="208483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58184" y="2450592"/>
            <a:ext cx="16276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2450592"/>
            <a:ext cx="162763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31336" y="246888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31336" y="2852928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Owner has 30 days to confirm: Keep, Archive, or Decommission.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71616" y="2084832"/>
            <a:ext cx="310896" cy="310896"/>
          </a:xfrm>
          <a:prstGeom prst="ellipse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77256" y="2450592"/>
            <a:ext cx="16276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77256" y="2450592"/>
            <a:ext cx="1627632" cy="34747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0408" y="246888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50408" y="2852928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set to read-only. Retained for 12 months. Restorable on request.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90688" y="208483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0688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96328" y="2450592"/>
            <a:ext cx="16276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96328" y="2450592"/>
            <a:ext cx="162763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46888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69480" y="2852928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deleted after archive period or owner instruction. Content backed up 30 days.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1298448"/>
            <a:ext cx="850392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A8D0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133502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Quarterly: SPO Admin reviews site activity report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Semi-Annual: Site Owners notified of inactive sites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Annual: Full site inventory review with IT Manager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Ad-hoc: Site Owner may request decommission at any time via ServiceNow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External Guest Access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users (non-org email) require an elevated approval path. Access is time-limited and audited.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37160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344168"/>
            <a:ext cx="1335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Site Owner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91640" y="1325880"/>
            <a:ext cx="7132320" cy="804672"/>
          </a:xfrm>
          <a:prstGeom prst="rect">
            <a:avLst/>
          </a:prstGeom>
          <a:solidFill>
            <a:srgbClr val="F4F8FB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240280"/>
            <a:ext cx="13716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258568"/>
            <a:ext cx="1335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Manager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91640" y="2240280"/>
            <a:ext cx="7132320" cy="804672"/>
          </a:xfrm>
          <a:prstGeom prst="rect">
            <a:avLst/>
          </a:prstGeom>
          <a:solidFill>
            <a:srgbClr val="EDF4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154680"/>
            <a:ext cx="137160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3172968"/>
            <a:ext cx="1335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Admin / IT Security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91640" y="3154680"/>
            <a:ext cx="7132320" cy="804672"/>
          </a:xfrm>
          <a:prstGeom prst="rect">
            <a:avLst/>
          </a:prstGeom>
          <a:solidFill>
            <a:srgbClr val="F4F8FB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4069080"/>
            <a:ext cx="1371600" cy="80467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4087368"/>
            <a:ext cx="1335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User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91640" y="4069080"/>
            <a:ext cx="7132320" cy="804672"/>
          </a:xfrm>
          <a:prstGeom prst="rect">
            <a:avLst/>
          </a:prstGeom>
          <a:solidFill>
            <a:srgbClr val="EDF4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1380744"/>
            <a:ext cx="100584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0D213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92224" y="141732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Submit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'External Access'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ticket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guest email,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site, duration,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reason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34640" y="2295144"/>
            <a:ext cx="100584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89504" y="233172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Approve or Deny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ServiceNow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(within 1 business day)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31920" y="3209544"/>
            <a:ext cx="100584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86784" y="324612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SPO Admin reviews: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domain not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blacklisted, confirm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sharing enabled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0" y="3209544"/>
            <a:ext cx="100584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58384" y="324612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Send guest invite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Azure AD B2B.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expiry (default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days). Update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register.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03520" y="4123944"/>
            <a:ext cx="100584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5D6D7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58384" y="416052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Guest accepts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invitation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email. Accesses site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read-only 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rights.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75120" y="1380744"/>
            <a:ext cx="100584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0D213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29984" y="141732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Site Owner reviews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access at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&amp; 90 days.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or revoke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ServiceNow.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88920" y="1737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86200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89520" y="1737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846320"/>
            <a:ext cx="8686800" cy="201168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85546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Approved guest domains only  •  90-day max access by default  •  No admin permissions granted to guests  •  All guest activity logged in audit log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SharePoint Online – Concept of Operations</dc:title>
  <dc:subject>PptxGenJS Presentation</dc:subject>
  <dc:creator>PptxGenJS</dc:creator>
  <cp:lastModifiedBy>PptxGenJS</cp:lastModifiedBy>
  <cp:revision>1</cp:revision>
  <dcterms:created xsi:type="dcterms:W3CDTF">2026-03-11T00:57:03Z</dcterms:created>
  <dcterms:modified xsi:type="dcterms:W3CDTF">2026-03-11T00:57:03Z</dcterms:modified>
</cp:coreProperties>
</file>